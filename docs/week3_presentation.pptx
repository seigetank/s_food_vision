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821234a7334c1f" /><Relationship Type="http://schemas.openxmlformats.org/officeDocument/2006/relationships/extended-properties" Target="/docProps/app.xml" Id="R5e02dab994864b20" /><Relationship Type="http://schemas.openxmlformats.org/officeDocument/2006/relationships/officeDocument" Target="/ppt/presentation.xml" Id="R706c6c3a815c4d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f7f09b2b544736"/>
  </p:sldMasterIdLst>
  <p:notesMasterIdLst>
    <p:notesMasterId xmlns:r="http://schemas.openxmlformats.org/officeDocument/2006/relationships" r:id="Rffb1ba025e5e4031"/>
  </p:notesMasterIdLst>
  <p:sldIdLst>
    <p:sldId xmlns:r="http://schemas.openxmlformats.org/officeDocument/2006/relationships" id="256" r:id="Rf34a76fc1eb94ec4"/>
    <p:sldId xmlns:r="http://schemas.openxmlformats.org/officeDocument/2006/relationships" id="257" r:id="R4248864b2e62471e"/>
    <p:sldId xmlns:r="http://schemas.openxmlformats.org/officeDocument/2006/relationships" id="258" r:id="Re647eacbf63549d9"/>
    <p:sldId xmlns:r="http://schemas.openxmlformats.org/officeDocument/2006/relationships" id="259" r:id="R402a777b19d3482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cbf10838964426" /><Relationship Type="http://schemas.openxmlformats.org/officeDocument/2006/relationships/slideMaster" Target="/ppt/slideMasters/slideMaster1.xml" Id="R54f7f09b2b544736" /><Relationship Type="http://schemas.openxmlformats.org/officeDocument/2006/relationships/notesMaster" Target="/ppt/notesMasters/notesMaster1.xml" Id="Rffb1ba025e5e4031" /><Relationship Type="http://schemas.openxmlformats.org/officeDocument/2006/relationships/presProps" Target="/ppt/presProps.xml" Id="R74e8de41ccce4c5c" /><Relationship Type="http://schemas.openxmlformats.org/officeDocument/2006/relationships/tableStyles" Target="/ppt/tableStyles.xml" Id="Rf187dbca4ab54d84" /><Relationship Type="http://schemas.openxmlformats.org/officeDocument/2006/relationships/slide" Target="/ppt/slides/slide1.xml" Id="Rf34a76fc1eb94ec4" /><Relationship Type="http://schemas.openxmlformats.org/officeDocument/2006/relationships/slide" Target="/ppt/slides/slide2.xml" Id="R4248864b2e62471e" /><Relationship Type="http://schemas.openxmlformats.org/officeDocument/2006/relationships/slide" Target="/ppt/slides/slide3.xml" Id="Re647eacbf63549d9" /><Relationship Type="http://schemas.openxmlformats.org/officeDocument/2006/relationships/slide" Target="/ppt/slides/slide4.xml" Id="R402a777b19d348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5280afc7a24a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e6a360e8d841a3" /><Relationship Type="http://schemas.openxmlformats.org/officeDocument/2006/relationships/notesMaster" Target="/ppt/notesMasters/notesMaster1.xml" Id="R89ac8cf58ad749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63c4f7fd5e4c1c" /><Relationship Type="http://schemas.openxmlformats.org/officeDocument/2006/relationships/notesMaster" Target="/ppt/notesMasters/notesMaster1.xml" Id="R88baad68658847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b1fdcd81894a0d" /><Relationship Type="http://schemas.openxmlformats.org/officeDocument/2006/relationships/notesMaster" Target="/ppt/notesMasters/notesMaster1.xml" Id="R5bfde4bb0b9f4d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c9251d55cd43fa" /><Relationship Type="http://schemas.openxmlformats.org/officeDocument/2006/relationships/notesMaster" Target="/ppt/notesMasters/notesMaster1.xml" Id="R56cb64655ee045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be4516ce7f40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dd629efdf94849" /><Relationship Type="http://schemas.openxmlformats.org/officeDocument/2006/relationships/slideLayout" Target="/ppt/slideLayouts/slideLayout1.xml" Id="R29bdce6d2dcb48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bdce6d2dcb48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2904c1b584b0f" /><Relationship Type="http://schemas.openxmlformats.org/officeDocument/2006/relationships/notesSlide" Target="/ppt/notesSlides/notesSlide1.xml" Id="Rd6a3807d55e14a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1066a748a4e74" /><Relationship Type="http://schemas.openxmlformats.org/officeDocument/2006/relationships/notesSlide" Target="/ppt/notesSlides/notesSlide2.xml" Id="R3c19ff0ea98b4c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c6963e31548f3" /><Relationship Type="http://schemas.openxmlformats.org/officeDocument/2006/relationships/chart" Target="/ppt/slides/charts/chart1.xml" Id="R62acf67f96e14ca4" /><Relationship Type="http://schemas.openxmlformats.org/officeDocument/2006/relationships/notesSlide" Target="/ppt/notesSlides/notesSlide3.xml" Id="R542a6de62b3e44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2d4c1bb90439a" /><Relationship Type="http://schemas.openxmlformats.org/officeDocument/2006/relationships/image" Target="/ppt/media/image.jpeg" Id="R56b404f784324bdf" /><Relationship Type="http://schemas.openxmlformats.org/officeDocument/2006/relationships/notesSlide" Target="/ppt/notesSlides/notesSlide4.xml" Id="R476e8d2b6648449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사전학습</c:v>
          </c:tx>
          <c:spPr>
            <a:solidFill xmlns:a="http://schemas.openxmlformats.org/drawingml/2006/main">
              <a:srgbClr val="94A3B8"/>
            </a:solidFill>
          </c:spPr>
          <c:cat>
            <c:strLit>
              <c:ptCount val="4"/>
              <c:pt idx="0">
                <c:v>Precision</c:v>
              </c:pt>
              <c:pt idx="1">
                <c:v>Recall</c:v>
              </c:pt>
              <c:pt idx="2">
                <c:v>mAP50</c:v>
              </c:pt>
              <c:pt idx="3">
                <c:v>mAP50-95</c:v>
              </c:pt>
            </c:strLit>
          </c:cat>
          <c:val>
            <c:numLit>
              <c:formatCode>General</c:formatCode>
              <c:ptCount val="4"/>
              <c:pt idx="0">
                <c:v>62.1</c:v>
              </c:pt>
              <c:pt idx="1">
                <c:v>83.3</c:v>
              </c:pt>
              <c:pt idx="2">
                <c:v>88.8</c:v>
              </c:pt>
              <c:pt idx="3">
                <c:v>62.9</c:v>
              </c:pt>
            </c:numLit>
          </c:val>
        </c:ser>
        <c:ser>
          <c:idx val="1"/>
          <c:order val="1"/>
          <c:tx>
            <c:v>미세조정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Precision</c:v>
              </c:pt>
              <c:pt idx="1">
                <c:v>Recall</c:v>
              </c:pt>
              <c:pt idx="2">
                <c:v>mAP50</c:v>
              </c:pt>
              <c:pt idx="3">
                <c:v>mAP50-95</c:v>
              </c:pt>
            </c:strLit>
          </c:cat>
          <c:val>
            <c:numLit>
              <c:formatCode>General</c:formatCode>
              <c:ptCount val="4"/>
              <c:pt idx="0">
                <c:v>76</c:v>
              </c:pt>
              <c:pt idx="1">
                <c:v>83.3</c:v>
              </c:pt>
              <c:pt idx="2">
                <c:v>88.9</c:v>
              </c:pt>
              <c:pt idx="3">
                <c:v>62.4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1FE23E0-72EF-4885-AF82-3A7E5E63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56959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3주차 업무 결과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AF2E78A-E389-48C6-8127-DC3A3027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10668000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YOLOv8 객체 탐지
학습보다 중요한 건 검증이었다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B699F6C-9047-4C25-9C2D-C19D6174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05375"/>
            <a:ext cx="857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t>COCO8 기반 학습 · 정량 평가 · OpenCV 시각화</a:t>
            </a:r>
          </a:p>
        </p:txBody>
      </p:sp>
    </p:spTree>
    <p:extLst>
      <p:ext uri="{BB962C8B-B14F-4D97-AF65-F5344CB8AC3E}">
        <p14:creationId xmlns:p14="http://schemas.microsoft.com/office/powerpoint/2010/main" val="961391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8E1E2C-DD13-4063-8A79-A33C6040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858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학습·평가·추론을 한 번에 재현 가능한 흐름으로 묶었다</a:t>
            </a:r>
          </a:p>
        </p:txBody>
      </p:sp>
      <p:sp>
        <p:nvSpPr>
          <p:cNvPr id="2" name="data-title">
            <a:extLst xmlns:a="http://schemas.openxmlformats.org/drawingml/2006/main">
              <a:ext uri="{FF2B5EF4-FFF2-40B4-BE49-F238E27FC236}">
                <a16:creationId xmlns:a16="http://schemas.microsoft.com/office/drawing/2014/main" id="{F48A3E33-683D-4B3C-93B3-2BF65696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00250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01  데이터</a:t>
            </a:r>
          </a:p>
        </p:txBody>
      </p:sp>
      <p:sp>
        <p:nvSpPr>
          <p:cNvPr id="3" name="data-body">
            <a:extLst xmlns:a="http://schemas.openxmlformats.org/drawingml/2006/main">
              <a:ext uri="{FF2B5EF4-FFF2-40B4-BE49-F238E27FC236}">
                <a16:creationId xmlns:a16="http://schemas.microsoft.com/office/drawing/2014/main" id="{2563E282-3EB0-4D13-8A72-C2D7320F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24125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t>COCO8 학습 4장·검증 4장
워크플로 검증용 소규모 데이터</a:t>
            </a:r>
          </a:p>
        </p:txBody>
      </p:sp>
      <p:sp>
        <p:nvSpPr>
          <p:cNvPr id="4" name="training-title">
            <a:extLst xmlns:a="http://schemas.openxmlformats.org/drawingml/2006/main">
              <a:ext uri="{FF2B5EF4-FFF2-40B4-BE49-F238E27FC236}">
                <a16:creationId xmlns:a16="http://schemas.microsoft.com/office/drawing/2014/main" id="{E2B4AFB4-E1DD-4BF2-909D-67992D98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00250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02  학습</a:t>
            </a:r>
          </a:p>
        </p:txBody>
      </p:sp>
      <p:sp>
        <p:nvSpPr>
          <p:cNvPr id="5" name="training-body">
            <a:extLst xmlns:a="http://schemas.openxmlformats.org/drawingml/2006/main">
              <a:ext uri="{FF2B5EF4-FFF2-40B4-BE49-F238E27FC236}">
                <a16:creationId xmlns:a16="http://schemas.microsoft.com/office/drawing/2014/main" id="{8131B53C-D17B-4F32-AC04-0D71FD4D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24125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t>YOLOv8n · 10 epoch · 640px
augmentation · seed 42 · CPU</a:t>
            </a:r>
          </a:p>
        </p:txBody>
      </p:sp>
      <p:sp>
        <p:nvSpPr>
          <p:cNvPr id="6" name="evaluation-title">
            <a:extLst xmlns:a="http://schemas.openxmlformats.org/drawingml/2006/main">
              <a:ext uri="{FF2B5EF4-FFF2-40B4-BE49-F238E27FC236}">
                <a16:creationId xmlns:a16="http://schemas.microsoft.com/office/drawing/2014/main" id="{AEFA71C8-0079-4E92-AF21-84BA5A4E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0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03  평가</a:t>
            </a:r>
          </a:p>
        </p:txBody>
      </p:sp>
      <p:sp>
        <p:nvSpPr>
          <p:cNvPr id="7" name="evaluation-body">
            <a:extLst xmlns:a="http://schemas.openxmlformats.org/drawingml/2006/main">
              <a:ext uri="{FF2B5EF4-FFF2-40B4-BE49-F238E27FC236}">
                <a16:creationId xmlns:a16="http://schemas.microsoft.com/office/drawing/2014/main" id="{3109DAA6-EB22-492C-AD23-B7AD98FD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24375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t>사전학습 모델과 미세조정 모델을
동일한 검증셋에서 4개 지표 비교</a:t>
            </a:r>
          </a:p>
        </p:txBody>
      </p:sp>
      <p:sp>
        <p:nvSpPr>
          <p:cNvPr id="8" name="visualization-title">
            <a:extLst xmlns:a="http://schemas.openxmlformats.org/drawingml/2006/main">
              <a:ext uri="{FF2B5EF4-FFF2-40B4-BE49-F238E27FC236}">
                <a16:creationId xmlns:a16="http://schemas.microsoft.com/office/drawing/2014/main" id="{AC000AA7-253D-4A64-B6BF-26E038C3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00500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04  시각화</a:t>
            </a:r>
          </a:p>
        </p:txBody>
      </p:sp>
      <p:sp>
        <p:nvSpPr>
          <p:cNvPr id="9" name="visualization-body">
            <a:extLst xmlns:a="http://schemas.openxmlformats.org/drawingml/2006/main">
              <a:ext uri="{FF2B5EF4-FFF2-40B4-BE49-F238E27FC236}">
                <a16:creationId xmlns:a16="http://schemas.microsoft.com/office/drawing/2014/main" id="{E9C9B1CD-84B9-4BFF-9406-E027FFF9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24375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t>OpenCV bounding box·신뢰도 표시
결과 이미지·JSON·PR curve 저장</a:t>
            </a:r>
          </a:p>
        </p:txBody>
      </p:sp>
      <p:sp>
        <p:nvSpPr>
          <p:cNvPr id="10" name="page-2">
            <a:extLst xmlns:a="http://schemas.openxmlformats.org/drawingml/2006/main">
              <a:ext uri="{FF2B5EF4-FFF2-40B4-BE49-F238E27FC236}">
                <a16:creationId xmlns:a16="http://schemas.microsoft.com/office/drawing/2014/main" id="{C711B14D-781E-41A1-B5AD-1F995092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9406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31CE7B-BE21-4403-8E58-EE533FBB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858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Precision은 올랐지만, 전체 일반화 성능은 개선되지 않았다</a:t>
            </a:r>
          </a:p>
        </p:txBody>
      </p:sp>
      <p:sp>
        <p:nvSpPr>
          <p:cNvPr id="2" name="metric-callout-1">
            <a:extLst xmlns:a="http://schemas.openxmlformats.org/drawingml/2006/main">
              <a:ext uri="{FF2B5EF4-FFF2-40B4-BE49-F238E27FC236}">
                <a16:creationId xmlns:a16="http://schemas.microsoft.com/office/drawing/2014/main" id="{4780D4CA-EFD5-4D23-8F64-748CC221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66875"/>
            <a:ext cx="552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3" name="metric-text-1">
            <a:extLst xmlns:a="http://schemas.openxmlformats.org/drawingml/2006/main">
              <a:ext uri="{FF2B5EF4-FFF2-40B4-BE49-F238E27FC236}">
                <a16:creationId xmlns:a16="http://schemas.microsoft.com/office/drawing/2014/main" id="{AB2FF744-AA5A-4360-B6BF-5F08453E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95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Precision  +13.9%p</a:t>
            </a:r>
          </a:p>
        </p:txBody>
      </p:sp>
      <p:sp>
        <p:nvSpPr>
          <p:cNvPr id="4" name="metric-callout-2">
            <a:extLst xmlns:a="http://schemas.openxmlformats.org/drawingml/2006/main">
              <a:ext uri="{FF2B5EF4-FFF2-40B4-BE49-F238E27FC236}">
                <a16:creationId xmlns:a16="http://schemas.microsoft.com/office/drawing/2014/main" id="{CBBF2611-6701-477C-908F-A62F8547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552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metric-text-2">
            <a:extLst xmlns:a="http://schemas.openxmlformats.org/drawingml/2006/main">
              <a:ext uri="{FF2B5EF4-FFF2-40B4-BE49-F238E27FC236}">
                <a16:creationId xmlns:a16="http://schemas.microsoft.com/office/drawing/2014/main" id="{2F48C891-CFF8-4A2E-A47F-6BEF3943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495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Recall  변화 없음</a:t>
            </a:r>
          </a:p>
        </p:txBody>
      </p:sp>
      <p:sp>
        <p:nvSpPr>
          <p:cNvPr id="6" name="metric-callout-3">
            <a:extLst xmlns:a="http://schemas.openxmlformats.org/drawingml/2006/main">
              <a:ext uri="{FF2B5EF4-FFF2-40B4-BE49-F238E27FC236}">
                <a16:creationId xmlns:a16="http://schemas.microsoft.com/office/drawing/2014/main" id="{A277466A-6B20-4762-A7B3-0F4ACBDE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19625"/>
            <a:ext cx="552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metric-text-3">
            <a:extLst xmlns:a="http://schemas.openxmlformats.org/drawingml/2006/main">
              <a:ext uri="{FF2B5EF4-FFF2-40B4-BE49-F238E27FC236}">
                <a16:creationId xmlns:a16="http://schemas.microsoft.com/office/drawing/2014/main" id="{00ECC571-FE19-42F3-913F-BD5061E3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0125"/>
            <a:ext cx="4953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mAP50-95  -0.46%p
4장 학습으로는 개선 주장 불가</a:t>
            </a:r>
          </a:p>
        </p:txBody>
      </p:sp>
      <p:sp>
        <p:nvSpPr>
          <p:cNvPr id="8" name="page-3">
            <a:extLst xmlns:a="http://schemas.openxmlformats.org/drawingml/2006/main">
              <a:ext uri="{FF2B5EF4-FFF2-40B4-BE49-F238E27FC236}">
                <a16:creationId xmlns:a16="http://schemas.microsoft.com/office/drawing/2014/main" id="{F567AB30-EE02-43AD-9983-38FA4106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3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00050" y="1619250"/>
          <a:ext xmlns:a="http://schemas.openxmlformats.org/drawingml/2006/main" cx="533400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acf67f96e14ca4"/>
          </a:graphicData>
        </a:graphic>
      </p:graphicFrame>
    </p:spTree>
    <p:extLst>
      <p:ext uri="{BB962C8B-B14F-4D97-AF65-F5344CB8AC3E}">
        <p14:creationId xmlns:p14="http://schemas.microsoft.com/office/powerpoint/2010/main" val="9814393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0137EF-435F-43EF-80AF-A6D390A9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858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파이프라인은 완성됐고, 식품 전용 데이터가 다음 병목이다</a:t>
            </a:r>
          </a:p>
        </p:txBody>
      </p:sp>
      <p:sp>
        <p:nvSpPr>
          <p:cNvPr id="2" name="result-done-title">
            <a:extLst xmlns:a="http://schemas.openxmlformats.org/drawingml/2006/main">
              <a:ext uri="{FF2B5EF4-FFF2-40B4-BE49-F238E27FC236}">
                <a16:creationId xmlns:a16="http://schemas.microsoft.com/office/drawing/2014/main" id="{9129CA79-2A6D-4A31-B334-3F36BC90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완료</a:t>
            </a:r>
          </a:p>
        </p:txBody>
      </p:sp>
      <p:sp>
        <p:nvSpPr>
          <p:cNvPr id="3" name="result-done-body">
            <a:extLst xmlns:a="http://schemas.openxmlformats.org/drawingml/2006/main">
              <a:ext uri="{FF2B5EF4-FFF2-40B4-BE49-F238E27FC236}">
                <a16:creationId xmlns:a16="http://schemas.microsoft.com/office/drawing/2014/main" id="{6C83587F-5B6C-4639-8646-31B433F3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00300"/>
            <a:ext cx="5143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학습·평가·추론·OpenCV 시각화
평가 산출물과 5개 테스트</a:t>
            </a:r>
          </a:p>
        </p:txBody>
      </p:sp>
      <p:sp>
        <p:nvSpPr>
          <p:cNvPr id="4" name="result-limit-title">
            <a:extLst xmlns:a="http://schemas.openxmlformats.org/drawingml/2006/main">
              <a:ext uri="{FF2B5EF4-FFF2-40B4-BE49-F238E27FC236}">
                <a16:creationId xmlns:a16="http://schemas.microsoft.com/office/drawing/2014/main" id="{DD2A3043-4683-46C6-9365-5342F831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62375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확인한 한계</a:t>
            </a:r>
          </a:p>
        </p:txBody>
      </p:sp>
      <p:sp>
        <p:nvSpPr>
          <p:cNvPr id="5" name="result-limit-body">
            <a:extLst xmlns:a="http://schemas.openxmlformats.org/drawingml/2006/main">
              <a:ext uri="{FF2B5EF4-FFF2-40B4-BE49-F238E27FC236}">
                <a16:creationId xmlns:a16="http://schemas.microsoft.com/office/drawing/2014/main" id="{B51213DC-62C7-4E51-A51D-0FA154A0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10050"/>
            <a:ext cx="5143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COCO8은 식품 전용 데이터가 아님
중복 box와 오분류가 발생</a:t>
            </a:r>
          </a:p>
        </p:txBody>
      </p:sp>
      <p:sp>
        <p:nvSpPr>
          <p:cNvPr id="6" name="result-next">
            <a:extLst xmlns:a="http://schemas.openxmlformats.org/drawingml/2006/main">
              <a:ext uri="{FF2B5EF4-FFF2-40B4-BE49-F238E27FC236}">
                <a16:creationId xmlns:a16="http://schemas.microsoft.com/office/drawing/2014/main" id="{4F2B37E1-12FD-4A03-91B8-E6EAAEC6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19750"/>
            <a:ext cx="5619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t>다음 단계  ·  수정 가능한 식품 재고·유통기한 MVP</a:t>
            </a:r>
          </a:p>
        </p:txBody>
      </p:sp>
      <p:sp>
        <p:nvSpPr>
          <p:cNvPr id="7" name="result-image-backing">
            <a:extLst xmlns:a="http://schemas.openxmlformats.org/drawingml/2006/main">
              <a:ext uri="{FF2B5EF4-FFF2-40B4-BE49-F238E27FC236}">
                <a16:creationId xmlns:a16="http://schemas.microsoft.com/office/drawing/2014/main" id="{D2A958EC-E7DC-4014-8785-B2161DE4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24000"/>
            <a:ext cx="5534025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page-4">
            <a:extLst xmlns:a="http://schemas.openxmlformats.org/drawingml/2006/main">
              <a:ext uri="{FF2B5EF4-FFF2-40B4-BE49-F238E27FC236}">
                <a16:creationId xmlns:a16="http://schemas.microsoft.com/office/drawing/2014/main" id="{6EFD7E68-F08A-4AD1-8FAC-E933DF2D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404f784324bdf"/>
          <a:stretch xmlns:a="http://schemas.openxmlformats.org/drawingml/2006/main"/>
        </p:blipFill>
        <p:spPr>
          <a:xfrm xmlns:a="http://schemas.openxmlformats.org/drawingml/2006/main">
            <a:off x="6267450" y="2205930"/>
            <a:ext cx="5534025" cy="3112889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</p:spTree>
    <p:extLst>
      <p:ext uri="{BB962C8B-B14F-4D97-AF65-F5344CB8AC3E}">
        <p14:creationId xmlns:p14="http://schemas.microsoft.com/office/powerpoint/2010/main" val="8886236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2026-07-24T02:02:39.3740000Z</dcterms:created>
  <dcterms:modified xsi:type="dcterms:W3CDTF">2026-07-24T02:02:39.3740000Z</dcterms:modified>
</coreProperties>
</file>